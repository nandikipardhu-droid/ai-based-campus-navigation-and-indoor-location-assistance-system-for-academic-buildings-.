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Noto Serif" panose="02020600060500020200"/>
      <p:regular r:id="rId14"/>
    </p:embeddedFont>
    <p:embeddedFont>
      <p:font typeface="Noto Serif Bold" panose="02020502060505020204" pitchFamily="18" charset="0"/>
      <p:regular r:id="rId15"/>
      <p:bold r:id="rId16"/>
    </p:embeddedFont>
    <p:embeddedFont>
      <p:font typeface="Noto Serif Medium" panose="02020502060505020204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7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4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9007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svg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F2EDE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913434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kern="0" spc="-74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AI-Based Campus Navigation and Indoor Location Assistance System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3760986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37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For Academic Buildings and Laboratories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4339729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Helping students, faculty, and visitors locate destinations and navigate large academic campuses efficiently.</a:t>
            </a:r>
            <a:endParaRPr lang="en-US" sz="14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DBEF49-BDDB-8BF2-FE58-0B075BC8D65B}"/>
              </a:ext>
            </a:extLst>
          </p:cNvPr>
          <p:cNvSpPr txBox="1"/>
          <p:nvPr/>
        </p:nvSpPr>
        <p:spPr>
          <a:xfrm>
            <a:off x="661475" y="5954485"/>
            <a:ext cx="27169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NANDIKI SAI PARDHU REDDY</a:t>
            </a:r>
            <a:b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324129510040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F2EDE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5887" y="99120"/>
            <a:ext cx="4439730" cy="66597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83518"/>
            <a:ext cx="6296860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kern="0" spc="-52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Introduction: Campus Navigation Challenges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661475" y="1741884"/>
            <a:ext cx="298710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-26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What Is Campus Navigation?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61475" y="2041128"/>
            <a:ext cx="2987104" cy="719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process of locating and moving between academic buildings, classrooms, laboratories, offices, and facilities within an educational institution.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61475" y="2853630"/>
            <a:ext cx="298710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-26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61475" y="3152874"/>
            <a:ext cx="2987104" cy="719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Multiple buildings, complex layouts, and interconnected facilities make navigation difficult for unfamiliar users — costing time and reducing productivity.</a:t>
            </a:r>
            <a:endParaRPr lang="en-US" sz="10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77580" y="1753493"/>
            <a:ext cx="2987104" cy="114180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205083" y="1904802"/>
            <a:ext cx="2608296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-26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New Students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205083" y="2204045"/>
            <a:ext cx="2608296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Difficulty identifying correct buildings, locating classrooms and laboratories, and understanding campus layout.</a:t>
            </a:r>
            <a:endParaRPr lang="en-US" sz="10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77580" y="2987873"/>
            <a:ext cx="2987104" cy="114180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205083" y="3139182"/>
            <a:ext cx="2608296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-26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Faculty Members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4205083" y="3438426"/>
            <a:ext cx="2608296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May struggle to locate new facilities, laboratories, and offices, especially in expanding campuses.</a:t>
            </a:r>
            <a:endParaRPr lang="en-US" sz="10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77580" y="4222254"/>
            <a:ext cx="2987104" cy="114180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205083" y="4373562"/>
            <a:ext cx="2608296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-26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Visitors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4205083" y="4672806"/>
            <a:ext cx="2608296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Lack familiarity with campus structure and require assistance to find specific destinations.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661475" y="5572423"/>
            <a:ext cx="6296860" cy="601960"/>
          </a:xfrm>
          <a:prstGeom prst="roundRect">
            <a:avLst>
              <a:gd name="adj" fmla="val 9232"/>
            </a:avLst>
          </a:prstGeom>
          <a:solidFill>
            <a:srgbClr val="E8E6E3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30" y="5709245"/>
            <a:ext cx="165294" cy="132259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091280" y="5698034"/>
            <a:ext cx="5734800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Traditional printed maps and static signboards provide limited real-time guidance and cannot offer personalized navigation — AI and location technologies change this.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3471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kern="0" spc="-74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Problem Identification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703388"/>
            <a:ext cx="5339820" cy="1706662"/>
          </a:xfrm>
          <a:prstGeom prst="roundRect">
            <a:avLst>
              <a:gd name="adj" fmla="val 4652"/>
            </a:avLst>
          </a:prstGeom>
          <a:solidFill>
            <a:srgbClr val="E6DED2">
              <a:alpha val="50000"/>
            </a:srgbClr>
          </a:solidFill>
          <a:ln w="6350">
            <a:solidFill>
              <a:srgbClr val="CCC4B8"/>
            </a:solidFill>
            <a:prstDash val="solid"/>
          </a:ln>
          <a:effectLst>
            <a:outerShdw blurRad="127" dist="2413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56832" y="1898749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37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Complex Campus Layouts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2307431"/>
            <a:ext cx="49491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Multiple academic buildings make destination identification difficult, especially for first-time visitors and new students.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190301" y="1703388"/>
            <a:ext cx="5339919" cy="1706662"/>
          </a:xfrm>
          <a:prstGeom prst="roundRect">
            <a:avLst>
              <a:gd name="adj" fmla="val 4652"/>
            </a:avLst>
          </a:prstGeom>
          <a:solidFill>
            <a:srgbClr val="E6DED2">
              <a:alpha val="50000"/>
            </a:srgbClr>
          </a:solidFill>
          <a:ln w="6350">
            <a:solidFill>
              <a:srgbClr val="CCC4B8"/>
            </a:solidFill>
            <a:prstDash val="solid"/>
          </a:ln>
          <a:effectLst>
            <a:outerShdw blurRad="127" dist="2413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385658" y="1898749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37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Indoor Navigation Gap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385658" y="2307431"/>
            <a:ext cx="494920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Indoor navigation is significantly more difficult than outdoor navigation — conventional GPS is unreliable inside buildings.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3599061"/>
            <a:ext cx="5339820" cy="1706662"/>
          </a:xfrm>
          <a:prstGeom prst="roundRect">
            <a:avLst>
              <a:gd name="adj" fmla="val 4652"/>
            </a:avLst>
          </a:prstGeom>
          <a:solidFill>
            <a:srgbClr val="E6DED2">
              <a:alpha val="50000"/>
            </a:srgbClr>
          </a:solidFill>
          <a:ln w="6350">
            <a:solidFill>
              <a:srgbClr val="CCC4B8"/>
            </a:solidFill>
            <a:prstDash val="solid"/>
          </a:ln>
          <a:effectLst>
            <a:outerShdw blurRad="127" dist="2413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56832" y="3794423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37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Static Guidance Limitations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56832" y="4203105"/>
            <a:ext cx="49491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Traditional maps and signboards cannot adapt to user needs, offer personalized routes, or provide real-time guidance.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190301" y="3599061"/>
            <a:ext cx="5339919" cy="1706662"/>
          </a:xfrm>
          <a:prstGeom prst="roundRect">
            <a:avLst>
              <a:gd name="adj" fmla="val 4652"/>
            </a:avLst>
          </a:prstGeom>
          <a:solidFill>
            <a:srgbClr val="E6DED2">
              <a:alpha val="50000"/>
            </a:srgbClr>
          </a:solidFill>
          <a:ln w="6350">
            <a:solidFill>
              <a:srgbClr val="CCC4B8"/>
            </a:solidFill>
            <a:prstDash val="solid"/>
          </a:ln>
          <a:effectLst>
            <a:outerShdw blurRad="127" dist="2413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85658" y="3794423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37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Accessibility Gaps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385658" y="4203105"/>
            <a:ext cx="494920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Accessibility routes may not be easily available or clearly marked, creating barriers for users with mobility requirements.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61475" y="5518348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Users spend unnecessary time searching for destinations, affecting productivity. Educational institutions require intelligent, scalable navigation solutions to address these challenges comprehensively.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616" y="739874"/>
            <a:ext cx="2515926" cy="251598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84784" y="1086644"/>
            <a:ext cx="6951687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kern="0" spc="-52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Existing System: Traditional Campus Navigation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584784" y="1950541"/>
            <a:ext cx="695168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-26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Current Methods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584784" y="2249785"/>
            <a:ext cx="6951687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Printed campus maps, static digital maps, directional signboards, asking staff for directions, and manual building identification.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84784" y="2702322"/>
            <a:ext cx="695168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-26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Key Limitations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1083" y="3470771"/>
            <a:ext cx="198433" cy="19843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1379" y="3464223"/>
            <a:ext cx="10438841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No dynamic route updates or real-time guidance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1083" y="4059436"/>
            <a:ext cx="198433" cy="19843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91379" y="4052888"/>
            <a:ext cx="10438841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No personalized route calculation based on user location</a:t>
            </a:r>
            <a:endParaRPr lang="en-US" sz="10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1083" y="4648101"/>
            <a:ext cx="198433" cy="19843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91379" y="4641552"/>
            <a:ext cx="10438841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Unreliable indoor navigation where GPS fails</a:t>
            </a:r>
            <a:endParaRPr lang="en-US" sz="10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1083" y="5236766"/>
            <a:ext cx="198433" cy="19843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91379" y="5230217"/>
            <a:ext cx="10438841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No integrated destination search or route optimization</a:t>
            </a:r>
            <a:endParaRPr lang="en-US" sz="10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1083" y="5825430"/>
            <a:ext cx="198433" cy="19843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091379" y="5818882"/>
            <a:ext cx="10438841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Challenging for visitors unfamiliar with campus structure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F2EDE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1224" y="92075"/>
            <a:ext cx="4449056" cy="66737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40556"/>
            <a:ext cx="6296860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kern="0" spc="-48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Proposed System: AI-Based Campus Navigation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61475" y="1608038"/>
            <a:ext cx="2998613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0" spc="-24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Core Features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61475" y="1879798"/>
            <a:ext cx="2998613" cy="2627015"/>
          </a:xfrm>
          <a:prstGeom prst="rect">
            <a:avLst/>
          </a:prstGeom>
          <a:noFill/>
          <a:ln/>
        </p:spPr>
        <p:txBody>
          <a:bodyPr wrap="square" lIns="0" tIns="49145" rIns="0" bIns="0" rtlCol="0" anchor="t">
            <a:normAutofit/>
          </a:bodyPr>
          <a:lstStyle/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Centralized navigation platform with destination search functionality</a:t>
            </a:r>
            <a:endParaRPr lang="en-US" sz="950" dirty="0"/>
          </a:p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User location identification using location-based technologies</a:t>
            </a:r>
            <a:endParaRPr lang="en-US" sz="950" dirty="0"/>
          </a:p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Indoor mapping representing building layouts, floors, and rooms</a:t>
            </a:r>
            <a:endParaRPr lang="en-US" sz="950" dirty="0"/>
          </a:p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Interactive campus maps displaying buildings, laboratories, and classrooms</a:t>
            </a:r>
            <a:endParaRPr lang="en-US" sz="950" dirty="0"/>
          </a:p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Shortest-route calculation using path optimization algorithms</a:t>
            </a:r>
            <a:endParaRPr lang="en-US" sz="950" dirty="0"/>
          </a:p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Real-time navigation assistance with turn-by-turn guidance</a:t>
            </a:r>
            <a:endParaRPr lang="en-US" sz="950" dirty="0"/>
          </a:p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Accessibility routes for users with mobility requirements</a:t>
            </a:r>
            <a:endParaRPr lang="en-US" sz="950" dirty="0"/>
          </a:p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Estimated travel time calculation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966071" y="1608038"/>
            <a:ext cx="2998613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0" spc="-24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966071" y="1879798"/>
            <a:ext cx="2998613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Integrates four core pillars to deliver intelligent navigation: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966071" y="2293838"/>
            <a:ext cx="2998613" cy="898624"/>
          </a:xfrm>
          <a:prstGeom prst="roundRect">
            <a:avLst>
              <a:gd name="adj" fmla="val 5742"/>
            </a:avLst>
          </a:prstGeom>
          <a:solidFill>
            <a:srgbClr val="F2EDE5"/>
          </a:solidFill>
          <a:ln w="6350">
            <a:solidFill>
              <a:srgbClr val="E6DED2"/>
            </a:solidFill>
            <a:prstDash val="solid"/>
          </a:ln>
          <a:effectLst>
            <a:outerShdw blurRad="127" dist="1524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095251" y="2423021"/>
            <a:ext cx="368489" cy="368498"/>
          </a:xfrm>
          <a:prstGeom prst="ellipse">
            <a:avLst/>
          </a:prstGeom>
          <a:solidFill>
            <a:srgbClr val="E6DED2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96550" y="2524323"/>
            <a:ext cx="165790" cy="16579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95251" y="2871291"/>
            <a:ext cx="2740254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0" spc="-24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Python-Based Data Analysis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966071" y="3272234"/>
            <a:ext cx="2998613" cy="898624"/>
          </a:xfrm>
          <a:prstGeom prst="roundRect">
            <a:avLst>
              <a:gd name="adj" fmla="val 5742"/>
            </a:avLst>
          </a:prstGeom>
          <a:solidFill>
            <a:srgbClr val="F2EDE5"/>
          </a:solidFill>
          <a:ln w="6350">
            <a:solidFill>
              <a:srgbClr val="E6DED2"/>
            </a:solidFill>
            <a:prstDash val="solid"/>
          </a:ln>
          <a:effectLst>
            <a:outerShdw blurRad="127" dist="1524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095251" y="3401417"/>
            <a:ext cx="368489" cy="368498"/>
          </a:xfrm>
          <a:prstGeom prst="ellipse">
            <a:avLst/>
          </a:prstGeom>
          <a:solidFill>
            <a:srgbClr val="E6DED2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96550" y="3502720"/>
            <a:ext cx="165790" cy="16579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095251" y="3849688"/>
            <a:ext cx="2740254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0" spc="-24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AI Algorithms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3966071" y="4250630"/>
            <a:ext cx="2998613" cy="898624"/>
          </a:xfrm>
          <a:prstGeom prst="roundRect">
            <a:avLst>
              <a:gd name="adj" fmla="val 5742"/>
            </a:avLst>
          </a:prstGeom>
          <a:solidFill>
            <a:srgbClr val="F2EDE5"/>
          </a:solidFill>
          <a:ln w="6350">
            <a:solidFill>
              <a:srgbClr val="E6DED2"/>
            </a:solidFill>
            <a:prstDash val="solid"/>
          </a:ln>
          <a:effectLst>
            <a:outerShdw blurRad="127" dist="1524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095251" y="4379813"/>
            <a:ext cx="368489" cy="368498"/>
          </a:xfrm>
          <a:prstGeom prst="ellipse">
            <a:avLst/>
          </a:prstGeom>
          <a:solidFill>
            <a:srgbClr val="E6DED2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96550" y="4481116"/>
            <a:ext cx="165790" cy="16579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095251" y="4828084"/>
            <a:ext cx="2740254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0" spc="-24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Indoor Mapping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3966071" y="5229027"/>
            <a:ext cx="2998613" cy="898624"/>
          </a:xfrm>
          <a:prstGeom prst="roundRect">
            <a:avLst>
              <a:gd name="adj" fmla="val 5742"/>
            </a:avLst>
          </a:prstGeom>
          <a:solidFill>
            <a:srgbClr val="F2EDE5"/>
          </a:solidFill>
          <a:ln w="6350">
            <a:solidFill>
              <a:srgbClr val="E6DED2"/>
            </a:solidFill>
            <a:prstDash val="solid"/>
          </a:ln>
          <a:effectLst>
            <a:outerShdw blurRad="127" dist="1524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095251" y="5358209"/>
            <a:ext cx="368489" cy="368498"/>
          </a:xfrm>
          <a:prstGeom prst="ellipse">
            <a:avLst/>
          </a:prstGeom>
          <a:solidFill>
            <a:srgbClr val="E6DED2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96550" y="5459512"/>
            <a:ext cx="165790" cy="16579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095251" y="5806480"/>
            <a:ext cx="2740254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0" spc="-24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Path Optimization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4504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kern="0" spc="-74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System Objectives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837333"/>
            <a:ext cx="189007" cy="18901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61475" y="2109589"/>
            <a:ext cx="5339820" cy="254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5" name="Text 2"/>
          <p:cNvSpPr/>
          <p:nvPr/>
        </p:nvSpPr>
        <p:spPr>
          <a:xfrm>
            <a:off x="661475" y="2254845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37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Locate Destinations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2663527"/>
            <a:ext cx="53398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Help users find academic buildings, classrooms, laboratories, offices, and campus facilities.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0301" y="1837333"/>
            <a:ext cx="189007" cy="18901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190301" y="2109589"/>
            <a:ext cx="5339919" cy="254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9" name="Text 5"/>
          <p:cNvSpPr/>
          <p:nvPr/>
        </p:nvSpPr>
        <p:spPr>
          <a:xfrm>
            <a:off x="6190301" y="2254845"/>
            <a:ext cx="53399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37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Identify User Location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6190301" y="2663527"/>
            <a:ext cx="533991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Accurately determine the user's current position within the campus, including indoors.</a:t>
            </a:r>
            <a:endParaRPr lang="en-US" sz="14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622675"/>
            <a:ext cx="189007" cy="189012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61475" y="3894931"/>
            <a:ext cx="5339820" cy="254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13" name="Text 8"/>
          <p:cNvSpPr/>
          <p:nvPr/>
        </p:nvSpPr>
        <p:spPr>
          <a:xfrm>
            <a:off x="661475" y="4040188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37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Calculate Optimal Routes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661475" y="4448870"/>
            <a:ext cx="53398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Compute the shortest or most suitable route, including accessible paths for users with mobility requirements.</a:t>
            </a:r>
            <a:endParaRPr lang="en-US" sz="14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90301" y="3622675"/>
            <a:ext cx="189007" cy="189012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190301" y="3894931"/>
            <a:ext cx="5339919" cy="254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17" name="Text 11"/>
          <p:cNvSpPr/>
          <p:nvPr/>
        </p:nvSpPr>
        <p:spPr>
          <a:xfrm>
            <a:off x="6190301" y="4040188"/>
            <a:ext cx="53399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37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Deliver Real-Time Guidance</a:t>
            </a:r>
            <a:endParaRPr lang="en-US" sz="1850" dirty="0"/>
          </a:p>
        </p:txBody>
      </p:sp>
      <p:sp>
        <p:nvSpPr>
          <p:cNvPr id="18" name="Text 12"/>
          <p:cNvSpPr/>
          <p:nvPr/>
        </p:nvSpPr>
        <p:spPr>
          <a:xfrm>
            <a:off x="6190301" y="4448870"/>
            <a:ext cx="533991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Provide live navigation assistance, estimated travel time, and building information to reduce navigation time.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661475" y="5408017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Together, these objectives support smart campus management and centralized location services across the entire institution.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2302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kern="0" spc="-74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Target Users and Benefits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791692"/>
            <a:ext cx="1117572" cy="111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145532"/>
            <a:ext cx="25399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37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New Students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554214"/>
            <a:ext cx="253993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Quickly locate classrooms, laboratories, and facilities without prior campus knowledge.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7645" y="1791692"/>
            <a:ext cx="1117572" cy="1117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37645" y="3145532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37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Faculty Members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3437645" y="3554214"/>
            <a:ext cx="25400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Locate offices, laboratories, and meeting spaces across campus with ease.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3915" y="1791692"/>
            <a:ext cx="1117572" cy="1117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13915" y="3145532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37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Administrative Staff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213915" y="3554214"/>
            <a:ext cx="25400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Navigate to administrative buildings and support facilities efficiently.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0184" y="1791692"/>
            <a:ext cx="1117572" cy="1117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90184" y="3145532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37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Campus Visitors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8990184" y="3554214"/>
            <a:ext cx="25400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Receive guided assistance to reach specific destinations without prior familiarity.</a:t>
            </a:r>
            <a:endParaRPr lang="en-US" sz="1450" dirty="0"/>
          </a:p>
        </p:txBody>
      </p:sp>
      <p:sp>
        <p:nvSpPr>
          <p:cNvPr id="15" name="Shape 9"/>
          <p:cNvSpPr/>
          <p:nvPr/>
        </p:nvSpPr>
        <p:spPr>
          <a:xfrm>
            <a:off x="661475" y="4976515"/>
            <a:ext cx="10868745" cy="1058366"/>
          </a:xfrm>
          <a:prstGeom prst="roundRect">
            <a:avLst>
              <a:gd name="adj" fmla="val 7501"/>
            </a:avLst>
          </a:prstGeom>
          <a:solidFill>
            <a:srgbClr val="B6FCB8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482" y="5244207"/>
            <a:ext cx="236234" cy="18901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75723" y="5212755"/>
            <a:ext cx="1006549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Overall Impact: Improved campus experience, reduced navigation time, and better accessibility for all authorized campus users.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9239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kern="0" spc="-52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System Architecture and Data Flow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4238" y="2792115"/>
            <a:ext cx="4866161" cy="18260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36024" y="4104158"/>
            <a:ext cx="733950" cy="2827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kern="0" spc="-18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Indoor Mapping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711046" y="4174853"/>
            <a:ext cx="733950" cy="141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kern="0" spc="-18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User Position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791095" y="4104158"/>
            <a:ext cx="733950" cy="2827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kern="0" spc="-18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Destination Input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2871144" y="4104158"/>
            <a:ext cx="733950" cy="2827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kern="0" spc="-18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Location Processing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931085" y="4104158"/>
            <a:ext cx="733950" cy="2827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kern="0" spc="-18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Map Collection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942163" y="1224161"/>
            <a:ext cx="359430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-26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Key System Components</a:t>
            </a:r>
            <a:endParaRPr lang="en-US" sz="13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42163" y="1535013"/>
            <a:ext cx="3594308" cy="96182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169666" y="1686322"/>
            <a:ext cx="321550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-26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Data Management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8169666" y="1985566"/>
            <a:ext cx="3215500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Campus map and building data collection and processing.</a:t>
            </a:r>
            <a:endParaRPr lang="en-US" sz="10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42163" y="2589411"/>
            <a:ext cx="3594308" cy="96182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69666" y="2740720"/>
            <a:ext cx="321550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-26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Location Services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8169666" y="3039963"/>
            <a:ext cx="3215500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User location identification and indoor positioning.</a:t>
            </a:r>
            <a:endParaRPr lang="en-US" sz="10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42163" y="3643809"/>
            <a:ext cx="3594308" cy="78184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169666" y="3795117"/>
            <a:ext cx="321550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-26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Route Optimization Engine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8169666" y="4094361"/>
            <a:ext cx="321550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Path analysis and shortest route calculation.</a:t>
            </a:r>
            <a:endParaRPr lang="en-US" sz="10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42163" y="4518223"/>
            <a:ext cx="3594308" cy="78184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169666" y="4669532"/>
            <a:ext cx="321550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-26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Interactive Interface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8169666" y="4968776"/>
            <a:ext cx="321550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Campus map display and destination search.</a:t>
            </a:r>
            <a:endParaRPr lang="en-US" sz="10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42163" y="5392638"/>
            <a:ext cx="3594308" cy="78184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8169666" y="5543947"/>
            <a:ext cx="321550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-26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Real-Time Guidance</a:t>
            </a:r>
            <a:endParaRPr lang="en-US" sz="1300" dirty="0"/>
          </a:p>
        </p:txBody>
      </p:sp>
      <p:sp>
        <p:nvSpPr>
          <p:cNvPr id="24" name="Text 16"/>
          <p:cNvSpPr/>
          <p:nvPr/>
        </p:nvSpPr>
        <p:spPr>
          <a:xfrm>
            <a:off x="8169666" y="5843191"/>
            <a:ext cx="321550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Navigation instructions and travel time delivery.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2585"/>
            <a:ext cx="10868745" cy="329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kern="0" spc="-42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Location Identification, Destination Search, and Indoor Mapping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661475" y="2639715"/>
            <a:ext cx="6974507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kern="0" spc="-21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User Location Identification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2863552"/>
            <a:ext cx="7584092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Determines current position, establishes starting point, and matches location with campus map to support indoor navigation.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61475" y="3054052"/>
            <a:ext cx="6974507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kern="0" spc="-21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Possible Location Technologies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6270" y="1007170"/>
            <a:ext cx="2363728" cy="23637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99897" y="3437235"/>
            <a:ext cx="3636574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kern="0" spc="-21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Indoor Mapping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899897" y="3661073"/>
            <a:ext cx="3636574" cy="526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Represents building layouts including floors, rooms, laboratories, corridors, and navigation paths. Identifies accessible paths and connections between indoor and outdoor areas — supporting navigation where conventional GPS is insufficient.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899897" y="4246265"/>
            <a:ext cx="3636574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kern="0" spc="-21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Destination Search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899897" y="4470102"/>
            <a:ext cx="3636574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Enables search for buildings, classrooms, laboratories, offices, and facilities. Displays destination information and allows selection for navigation.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61475" y="4984155"/>
            <a:ext cx="5404905" cy="316706"/>
          </a:xfrm>
          <a:prstGeom prst="roundRect">
            <a:avLst>
              <a:gd name="adj" fmla="val 49999"/>
            </a:avLst>
          </a:prstGeom>
          <a:solidFill>
            <a:srgbClr val="E6DED2">
              <a:alpha val="50000"/>
            </a:srgbClr>
          </a:solidFill>
          <a:ln w="6350">
            <a:solidFill>
              <a:srgbClr val="CCC4B8"/>
            </a:solidFill>
            <a:prstDash val="solid"/>
          </a:ln>
          <a:effectLst>
            <a:outerShdw blurRad="127" dist="13970" dir="2700000" algn="bl" rotWithShape="0">
              <a:srgbClr val="CCC4B8">
                <a:alpha val="100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84753" y="5063232"/>
            <a:ext cx="158349" cy="15835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7041" y="5359797"/>
            <a:ext cx="5193773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kern="0" spc="-21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GPS (Outdoor)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25315" y="4984155"/>
            <a:ext cx="5404905" cy="316706"/>
          </a:xfrm>
          <a:prstGeom prst="roundRect">
            <a:avLst>
              <a:gd name="adj" fmla="val 49999"/>
            </a:avLst>
          </a:prstGeom>
          <a:solidFill>
            <a:srgbClr val="E6DED2">
              <a:alpha val="50000"/>
            </a:srgbClr>
          </a:solidFill>
          <a:ln w="6350">
            <a:solidFill>
              <a:srgbClr val="CCC4B8"/>
            </a:solidFill>
            <a:prstDash val="solid"/>
          </a:ln>
          <a:effectLst>
            <a:outerShdw blurRad="127" dist="13970" dir="2700000" algn="bl" rotWithShape="0">
              <a:srgbClr val="CCC4B8">
                <a:alpha val="100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48593" y="5063232"/>
            <a:ext cx="158349" cy="15835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30881" y="5359797"/>
            <a:ext cx="5193773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kern="0" spc="-21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Wi-Fi Positioning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61475" y="5689203"/>
            <a:ext cx="5404905" cy="316706"/>
          </a:xfrm>
          <a:prstGeom prst="roundRect">
            <a:avLst>
              <a:gd name="adj" fmla="val 49999"/>
            </a:avLst>
          </a:prstGeom>
          <a:solidFill>
            <a:srgbClr val="E6DED2">
              <a:alpha val="50000"/>
            </a:srgbClr>
          </a:solidFill>
          <a:ln w="6350">
            <a:solidFill>
              <a:srgbClr val="CCC4B8"/>
            </a:solidFill>
            <a:prstDash val="solid"/>
          </a:ln>
          <a:effectLst>
            <a:outerShdw blurRad="127" dist="13970" dir="2700000" algn="bl" rotWithShape="0">
              <a:srgbClr val="CCC4B8">
                <a:alpha val="100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84753" y="5768280"/>
            <a:ext cx="158349" cy="15835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67041" y="6064845"/>
            <a:ext cx="5193773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kern="0" spc="-21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Bluetooth / BLE Beacons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6125315" y="5689203"/>
            <a:ext cx="5404905" cy="316706"/>
          </a:xfrm>
          <a:prstGeom prst="roundRect">
            <a:avLst>
              <a:gd name="adj" fmla="val 49999"/>
            </a:avLst>
          </a:prstGeom>
          <a:solidFill>
            <a:srgbClr val="E6DED2">
              <a:alpha val="50000"/>
            </a:srgbClr>
          </a:solidFill>
          <a:ln w="6350">
            <a:solidFill>
              <a:srgbClr val="CCC4B8"/>
            </a:solidFill>
            <a:prstDash val="solid"/>
          </a:ln>
          <a:effectLst>
            <a:outerShdw blurRad="127" dist="13970" dir="2700000" algn="bl" rotWithShape="0">
              <a:srgbClr val="CCC4B8">
                <a:alpha val="100000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48593" y="5768280"/>
            <a:ext cx="158349" cy="15835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230881" y="6064845"/>
            <a:ext cx="5193773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kern="0" spc="-21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QR-Code Confirmation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F2EDE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3" y="113407"/>
            <a:ext cx="4420680" cy="6631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680938"/>
            <a:ext cx="6296860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kern="0" spc="-6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Route Optimization, Calculation, and Real-Time Navigation</a:t>
            </a:r>
            <a:endParaRPr lang="en-US" sz="2950" dirty="0"/>
          </a:p>
        </p:txBody>
      </p:sp>
      <p:sp>
        <p:nvSpPr>
          <p:cNvPr id="5" name="Text 2"/>
          <p:cNvSpPr/>
          <p:nvPr/>
        </p:nvSpPr>
        <p:spPr>
          <a:xfrm>
            <a:off x="5233360" y="2048371"/>
            <a:ext cx="196408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kern="0" spc="-3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Path Optimization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233360" y="2405559"/>
            <a:ext cx="1964085" cy="174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Identifies available navigation paths, represents the campus as connected nodes, calculates possible routes, and determines the shortest or most suitable route.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233360" y="4267994"/>
            <a:ext cx="196408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kern="0" spc="-3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Possible Algorithms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572682" y="1928217"/>
            <a:ext cx="396378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kern="0" spc="-3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Route Calculation Process</a:t>
            </a:r>
            <a:endParaRPr lang="en-US" sz="14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9051" y="2300486"/>
            <a:ext cx="3170952" cy="118983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31080" y="3155410"/>
            <a:ext cx="478239" cy="184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50" kern="0" spc="-12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Path Optimization</a:t>
            </a:r>
            <a:endParaRPr lang="en-US" sz="550" dirty="0"/>
          </a:p>
        </p:txBody>
      </p:sp>
      <p:sp>
        <p:nvSpPr>
          <p:cNvPr id="11" name="Text 7"/>
          <p:cNvSpPr/>
          <p:nvPr/>
        </p:nvSpPr>
        <p:spPr>
          <a:xfrm>
            <a:off x="9928366" y="3155410"/>
            <a:ext cx="478240" cy="184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50" kern="0" spc="-12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Route Analysis</a:t>
            </a:r>
            <a:endParaRPr lang="en-US" sz="550" dirty="0"/>
          </a:p>
        </p:txBody>
      </p:sp>
      <p:sp>
        <p:nvSpPr>
          <p:cNvPr id="12" name="Text 8"/>
          <p:cNvSpPr/>
          <p:nvPr/>
        </p:nvSpPr>
        <p:spPr>
          <a:xfrm>
            <a:off x="9328928" y="3109346"/>
            <a:ext cx="478240" cy="276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50" kern="0" spc="-12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Map Representation</a:t>
            </a:r>
            <a:endParaRPr lang="en-US" sz="550" dirty="0"/>
          </a:p>
        </p:txBody>
      </p:sp>
      <p:sp>
        <p:nvSpPr>
          <p:cNvPr id="13" name="Text 9"/>
          <p:cNvSpPr/>
          <p:nvPr/>
        </p:nvSpPr>
        <p:spPr>
          <a:xfrm>
            <a:off x="8729491" y="3155410"/>
            <a:ext cx="478239" cy="184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50" kern="0" spc="-12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Destination Selection</a:t>
            </a:r>
            <a:endParaRPr lang="en-US" sz="550" dirty="0"/>
          </a:p>
        </p:txBody>
      </p:sp>
      <p:sp>
        <p:nvSpPr>
          <p:cNvPr id="14" name="Text 10"/>
          <p:cNvSpPr/>
          <p:nvPr/>
        </p:nvSpPr>
        <p:spPr>
          <a:xfrm>
            <a:off x="8116950" y="3201475"/>
            <a:ext cx="478240" cy="92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50" kern="0" spc="-12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User Location</a:t>
            </a:r>
            <a:endParaRPr lang="en-US" sz="550" dirty="0"/>
          </a:p>
        </p:txBody>
      </p:sp>
      <p:sp>
        <p:nvSpPr>
          <p:cNvPr id="15" name="Text 11"/>
          <p:cNvSpPr/>
          <p:nvPr/>
        </p:nvSpPr>
        <p:spPr>
          <a:xfrm>
            <a:off x="7572682" y="3626346"/>
            <a:ext cx="396378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kern="0" spc="-3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Accessibility and Travel Time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7572682" y="3983534"/>
            <a:ext cx="3963789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Identifies accessible routes, avoids unsuitable paths, and estimates time required to reach the destination based on route distance and navigation information.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233360" y="4881463"/>
            <a:ext cx="2018257" cy="1295499"/>
          </a:xfrm>
          <a:prstGeom prst="roundRect">
            <a:avLst>
              <a:gd name="adj" fmla="val 4902"/>
            </a:avLst>
          </a:prstGeom>
          <a:solidFill>
            <a:srgbClr val="E6DED2">
              <a:alpha val="50000"/>
            </a:srgbClr>
          </a:solidFill>
          <a:ln w="6350">
            <a:solidFill>
              <a:srgbClr val="CCC4B8"/>
            </a:solidFill>
            <a:prstDash val="solid"/>
          </a:ln>
          <a:effectLst>
            <a:outerShdw blurRad="127" dist="1905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5390916" y="5039023"/>
            <a:ext cx="1703146" cy="47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kern="0" spc="-3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Dijkstra's Algorithm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5390916" y="5584031"/>
            <a:ext cx="1703146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Shortest path in weighted graphs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7372562" y="4881463"/>
            <a:ext cx="2018357" cy="1295499"/>
          </a:xfrm>
          <a:prstGeom prst="roundRect">
            <a:avLst>
              <a:gd name="adj" fmla="val 4902"/>
            </a:avLst>
          </a:prstGeom>
          <a:solidFill>
            <a:srgbClr val="E6DED2">
              <a:alpha val="50000"/>
            </a:srgbClr>
          </a:solidFill>
          <a:ln w="6350">
            <a:solidFill>
              <a:srgbClr val="CCC4B8"/>
            </a:solidFill>
            <a:prstDash val="solid"/>
          </a:ln>
          <a:effectLst>
            <a:outerShdw blurRad="127" dist="1905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7530118" y="5039023"/>
            <a:ext cx="1703246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kern="0" spc="-3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A* Algorithm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7530118" y="5347791"/>
            <a:ext cx="1703246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Heuristic-guided optimal pathfinding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9511864" y="4881463"/>
            <a:ext cx="2018257" cy="1295499"/>
          </a:xfrm>
          <a:prstGeom prst="roundRect">
            <a:avLst>
              <a:gd name="adj" fmla="val 4902"/>
            </a:avLst>
          </a:prstGeom>
          <a:solidFill>
            <a:srgbClr val="E6DED2">
              <a:alpha val="50000"/>
            </a:srgbClr>
          </a:solidFill>
          <a:ln w="6350">
            <a:solidFill>
              <a:srgbClr val="CCC4B8"/>
            </a:solidFill>
            <a:prstDash val="solid"/>
          </a:ln>
          <a:effectLst>
            <a:outerShdw blurRad="127" dist="1905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9669419" y="5039023"/>
            <a:ext cx="1703146" cy="47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kern="0" spc="-3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Breadth-First Search</a:t>
            </a:r>
            <a:endParaRPr lang="en-US" sz="1450" dirty="0"/>
          </a:p>
        </p:txBody>
      </p:sp>
      <p:sp>
        <p:nvSpPr>
          <p:cNvPr id="25" name="Text 21"/>
          <p:cNvSpPr/>
          <p:nvPr/>
        </p:nvSpPr>
        <p:spPr>
          <a:xfrm>
            <a:off x="9669419" y="5584031"/>
            <a:ext cx="1703146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Unweighted shortest path traversal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F2EDE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0650" y="106263"/>
            <a:ext cx="4430205" cy="66454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91046"/>
            <a:ext cx="6296860" cy="886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kern="0" spc="-56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Conclusion: Intelligent Campus Navigation Solution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661475" y="1742777"/>
            <a:ext cx="297549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8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System Overview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61475" y="2070497"/>
            <a:ext cx="2975496" cy="1389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</a:t>
            </a:r>
            <a:r>
              <a:rPr lang="en-US" sz="110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AI-Based Campus Navigation and Indoor Location Assistance System</a:t>
            </a: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combines AI algorithms, Python-based data analysis, indoor mapping, location-based technologies, and path optimization techniques to provide intelligent navigation across large educational campuses.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61475" y="3565823"/>
            <a:ext cx="297549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8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Key Capabilities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61475" y="3893542"/>
            <a:ext cx="2975496" cy="1699121"/>
          </a:xfrm>
          <a:prstGeom prst="rect">
            <a:avLst/>
          </a:prstGeom>
          <a:noFill/>
          <a:ln/>
        </p:spPr>
        <p:txBody>
          <a:bodyPr wrap="square" lIns="0" tIns="56706" rIns="0" bIns="0" rtlCol="0" anchor="t">
            <a:normAutofit/>
          </a:bodyPr>
          <a:lstStyle/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Identifies user locations and locates academic buildings and laboratories</a:t>
            </a:r>
            <a:endParaRPr lang="en-US" sz="11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Calculates suitable routes and provides real-time navigation</a:t>
            </a:r>
            <a:endParaRPr lang="en-US" sz="11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Displays building information and supports accessibility</a:t>
            </a:r>
            <a:endParaRPr lang="en-US" sz="11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Estimates travel time for efficient route planning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887095" y="1636514"/>
            <a:ext cx="3179683" cy="3993356"/>
          </a:xfrm>
          <a:prstGeom prst="roundRect">
            <a:avLst>
              <a:gd name="adj" fmla="val 3210"/>
            </a:avLst>
          </a:prstGeom>
          <a:solidFill>
            <a:srgbClr val="9C9283"/>
          </a:solidFill>
          <a:ln/>
        </p:spPr>
      </p:sp>
      <p:sp>
        <p:nvSpPr>
          <p:cNvPr id="10" name="Text 7"/>
          <p:cNvSpPr/>
          <p:nvPr/>
        </p:nvSpPr>
        <p:spPr>
          <a:xfrm>
            <a:off x="4028776" y="1742777"/>
            <a:ext cx="28963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8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Impact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028776" y="2070497"/>
            <a:ext cx="2896321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Improves campus accessibility, reduces navigation time, enhances user convenience, and supports smart campus management.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028776" y="2970510"/>
            <a:ext cx="28963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8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Outcome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028776" y="3298230"/>
            <a:ext cx="2896321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 modern, secure, scalable, and intelligent navigation solution that transforms how students, faculty, and visitors navigate educational institutions.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61475" y="5749429"/>
            <a:ext cx="6296860" cy="517525"/>
          </a:xfrm>
          <a:prstGeom prst="roundRect">
            <a:avLst>
              <a:gd name="adj" fmla="val 11505"/>
            </a:avLst>
          </a:prstGeom>
          <a:solidFill>
            <a:srgbClr val="F2EDE5"/>
          </a:solidFill>
          <a:ln w="6350">
            <a:solidFill>
              <a:srgbClr val="CCC4B8"/>
            </a:solidFill>
            <a:prstDash val="solid"/>
          </a:ln>
          <a:effectLst>
            <a:outerShdw blurRad="127" dist="1778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67825" y="5755779"/>
            <a:ext cx="2094654" cy="504825"/>
          </a:xfrm>
          <a:custGeom>
            <a:avLst/>
            <a:gdLst/>
            <a:ahLst/>
            <a:cxnLst/>
            <a:rect l="l" t="t" r="r" b="b"/>
            <a:pathLst>
              <a:path w="2094654" h="504825">
                <a:moveTo>
                  <a:pt x="49617" y="0"/>
                </a:moveTo>
                <a:lnTo>
                  <a:pt x="2094654" y="0"/>
                </a:lnTo>
                <a:lnTo>
                  <a:pt x="2094654" y="504825"/>
                </a:lnTo>
                <a:lnTo>
                  <a:pt x="49617" y="504825"/>
                </a:lnTo>
                <a:arcTo wR="49617" hR="49619" stAng="5400000" swAng="5400000"/>
                <a:lnTo>
                  <a:pt x="0" y="49619"/>
                </a:lnTo>
                <a:arcTo wR="49617" hR="49619" stAng="10800000" swAng="5400000"/>
                <a:close/>
              </a:path>
            </a:pathLst>
          </a:custGeom>
          <a:solidFill>
            <a:srgbClr val="F2EDE5"/>
          </a:solidFill>
          <a:ln/>
        </p:spPr>
      </p:sp>
      <p:sp>
        <p:nvSpPr>
          <p:cNvPr id="16" name="Text 13"/>
          <p:cNvSpPr/>
          <p:nvPr/>
        </p:nvSpPr>
        <p:spPr>
          <a:xfrm>
            <a:off x="809506" y="5897463"/>
            <a:ext cx="181129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8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Modern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2762479" y="5755779"/>
            <a:ext cx="2094753" cy="504825"/>
          </a:xfrm>
          <a:prstGeom prst="rect">
            <a:avLst/>
          </a:prstGeom>
          <a:solidFill>
            <a:srgbClr val="F2EDE5"/>
          </a:solidFill>
          <a:ln/>
        </p:spPr>
      </p:sp>
      <p:sp>
        <p:nvSpPr>
          <p:cNvPr id="18" name="Shape 15"/>
          <p:cNvSpPr/>
          <p:nvPr/>
        </p:nvSpPr>
        <p:spPr>
          <a:xfrm>
            <a:off x="2762479" y="5755779"/>
            <a:ext cx="19050" cy="504825"/>
          </a:xfrm>
          <a:prstGeom prst="roundRect">
            <a:avLst>
              <a:gd name="adj" fmla="val 49999"/>
            </a:avLst>
          </a:prstGeom>
          <a:solidFill>
            <a:srgbClr val="CCC4B8"/>
          </a:solidFill>
          <a:ln/>
        </p:spPr>
      </p:sp>
      <p:sp>
        <p:nvSpPr>
          <p:cNvPr id="19" name="Text 16"/>
          <p:cNvSpPr/>
          <p:nvPr/>
        </p:nvSpPr>
        <p:spPr>
          <a:xfrm>
            <a:off x="2904159" y="5897463"/>
            <a:ext cx="181139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8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Scalable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4857232" y="5755779"/>
            <a:ext cx="2094753" cy="504825"/>
          </a:xfrm>
          <a:custGeom>
            <a:avLst/>
            <a:gdLst/>
            <a:ahLst/>
            <a:cxnLst/>
            <a:rect l="l" t="t" r="r" b="b"/>
            <a:pathLst>
              <a:path w="2094753" h="504825">
                <a:moveTo>
                  <a:pt x="0" y="0"/>
                </a:moveTo>
                <a:lnTo>
                  <a:pt x="2045136" y="0"/>
                </a:lnTo>
                <a:arcTo wR="49617" hR="49619" stAng="16200000" swAng="5400000"/>
                <a:lnTo>
                  <a:pt x="2094753" y="455206"/>
                </a:lnTo>
                <a:arcTo wR="49617" hR="49619" stAng="0" swAng="5400000"/>
                <a:lnTo>
                  <a:pt x="0" y="504825"/>
                </a:lnTo>
                <a:lnTo>
                  <a:pt x="0" y="0"/>
                </a:lnTo>
                <a:close/>
              </a:path>
            </a:pathLst>
          </a:custGeom>
          <a:solidFill>
            <a:srgbClr val="F2EDE5"/>
          </a:solidFill>
          <a:ln/>
        </p:spPr>
      </p:sp>
      <p:sp>
        <p:nvSpPr>
          <p:cNvPr id="21" name="Shape 18"/>
          <p:cNvSpPr/>
          <p:nvPr/>
        </p:nvSpPr>
        <p:spPr>
          <a:xfrm>
            <a:off x="4857232" y="5755779"/>
            <a:ext cx="19050" cy="504825"/>
          </a:xfrm>
          <a:prstGeom prst="roundRect">
            <a:avLst>
              <a:gd name="adj" fmla="val 49999"/>
            </a:avLst>
          </a:prstGeom>
          <a:solidFill>
            <a:srgbClr val="CCC4B8"/>
          </a:solidFill>
          <a:ln/>
        </p:spPr>
      </p:sp>
      <p:sp>
        <p:nvSpPr>
          <p:cNvPr id="22" name="Text 19"/>
          <p:cNvSpPr/>
          <p:nvPr/>
        </p:nvSpPr>
        <p:spPr>
          <a:xfrm>
            <a:off x="4998912" y="5897463"/>
            <a:ext cx="181139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8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Intelligent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1000</Words>
  <Application>Microsoft Macintosh PowerPoint</Application>
  <PresentationFormat>Widescreen</PresentationFormat>
  <Paragraphs>144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Times New Roman</vt:lpstr>
      <vt:lpstr>Noto Serif Bold</vt:lpstr>
      <vt:lpstr>Arial</vt:lpstr>
      <vt:lpstr>Noto Serif Medium</vt:lpstr>
      <vt:lpstr>Noto 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Lalam githa vamsiram</cp:lastModifiedBy>
  <cp:revision>3</cp:revision>
  <dcterms:created xsi:type="dcterms:W3CDTF">2026-08-19T06:22:27Z</dcterms:created>
  <dcterms:modified xsi:type="dcterms:W3CDTF">2026-08-31T08:59:40Z</dcterms:modified>
</cp:coreProperties>
</file>